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0" r:id="rId2"/>
    <p:sldId id="443" r:id="rId3"/>
    <p:sldId id="450" r:id="rId4"/>
    <p:sldId id="444" r:id="rId5"/>
    <p:sldId id="451" r:id="rId6"/>
    <p:sldId id="456" r:id="rId7"/>
    <p:sldId id="452" r:id="rId8"/>
    <p:sldId id="454" r:id="rId9"/>
    <p:sldId id="453" r:id="rId10"/>
    <p:sldId id="455" r:id="rId11"/>
    <p:sldId id="457" r:id="rId12"/>
    <p:sldId id="458" r:id="rId13"/>
    <p:sldId id="470" r:id="rId14"/>
    <p:sldId id="460" r:id="rId15"/>
    <p:sldId id="459" r:id="rId16"/>
    <p:sldId id="461" r:id="rId17"/>
    <p:sldId id="462" r:id="rId18"/>
    <p:sldId id="463" r:id="rId19"/>
    <p:sldId id="464" r:id="rId20"/>
    <p:sldId id="465" r:id="rId21"/>
    <p:sldId id="4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16:39:34.19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1 275,'42'-2,"0"-1,0-3,47-11,-11 1,171-33,97-18,7 31,-76 37,128-8,79-11,-456 17,49-9,-4 0,69-2,222-10,-356 22,-1 1,0 0,1 0,-1 0,0 1,0 0,0 0,0 1,-1 0,1 0,-1 1,0 0,0 0,0 0,0 1,-1 0,1 0,-1 0,0 0,-1 1,0 0,0 0,5 10,1 0,0-3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16:39:35.74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1,'1697'0,"-1536"14,-11-1,46 1,26 0,-185-14,39-1,143 17,-74 17,-126-29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06T16:39:37.18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1,'2195'0,"-2171"1,1 1,37 9,-36-5,47 3,-50-9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09:58:15.47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1 198 9830,'1'4'108,"1"0"1,0 0-1,0 0 0,0 0 1,1 0-1,-1 0 0,1 0 1,0-1-1,0 1 0,0-1 0,0 0 1,5 3-1,2 4 122,31 35 589,-16-18 1,36 33-1,-55-54-700,1 0 1,0 0-1,0-1 1,0 0-1,0 0 1,1-1-1,0 0 1,0 0-1,0-1 1,0 0-1,1 0 1,-1-1-1,1 0 0,-1 0 1,12 0-1,-5-2 25,20 2 354,-1 1 0,36 7 1,-21-2 204,1-3 1,0-2 0,82-6-1,-29 1 306,-42 0-405,54 2 482,-103 1-922,0 1 1,0 0-1,-1 0 0,0 1 0,1 0 0,-1 1 0,16 8 0,-14-5 86,1 1 1,-1 0-1,0 1 0,-1 0 0,17 16 1,-24-19-222,0 0 0,-1 0 1,0 0-1,0 0 0,-1 1 0,1-1 1,-1 1-1,-1 0 0,1 0 0,-1 0 1,-1 0-1,1 0 0,0 14 1,0 50-30,-3-128-1060,1-69-65,0 123 1120,0 0-1,1 0 1,-1 0-1,1 1 1,0-1-1,0 0 1,0 0-1,0 1 1,1-1-1,-1 0 1,1 1-1,-1-1 1,1 1-1,0 0 1,0 0-1,0 0 1,0 0-1,0 0 1,1 0-1,-1 0 1,1 1-1,-1-1 1,1 1-1,-1-1 1,1 1-1,0 0 1,0 0-1,0 1 1,-1-1-1,5 0 1,9-1 46,0 0 1,1 2-1,-1 0 0,24 3 1,-9-1-24,16 0 45,8-1 98,99 17 0,-122-14-93,0 0 0,44-2-1,9 1 58,-16 10-1,-50-9-63,36 5 0,-1-7 60,1-3 0,0-1 0,73-14 0,-65 6-8,-20 5-26,0-3-1,-1-1 0,49-18 0,-84 23-94,0 0 1,-1 0-1,1-1 1,-1 0-1,0 0 1,-1 0-1,1 0 1,6-11-1,29-24-54,64-24 100,-101 62-72,1-1 0,-1 1 0,0-1 0,0 1 0,-1-1 0,1 0 0,-1-1 0,1 1 0,-1-1 0,0 1 0,0-1 0,-1 0 0,1 0 0,-1 0 0,0 0 0,0-1 0,0 1 0,0-1 0,-1 1 0,0-1 0,0 1 1,0-1-1,0 0 0,-1 0 0,0 1 0,0-1 0,0 0 0,-1 0 0,1 1 0,-2-6 0,-2-5-165,0 1-1,-1 0 1,-1 1 0,0-1 0,0 1 0,-2 0 0,1 0-1,-2 1 1,0 0 0,-14-15 0,4 5-43,2 1 197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09:58:21.16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0 233 9830,'2'-1'42,"0"0"0,0 1 0,-1-1 0,1 0 0,0-1 0,-1 1 0,1 0 0,-1 0 0,1-1 0,-1 1 0,1 0-1,-1-1 1,0 0 0,0 1 0,0-1 0,0 0 0,1-3 0,16-32-22,-15 25-30,-1-1 1,0 1-1,0 0 1,-1-21 0,-1 20 12,1 1 0,0-1 0,5-22 0,-6 35 13,0-1 0,0 0-1,1 1 1,-1-1 0,0 0 0,0 0-1,1 1 1,-1-1 0,0 1 0,1-1-1,-1 0 1,0 1 0,1-1 0,-1 1-1,1-1 1,-1 1 0,1-1 0,0 1-1,-1-1 1,1 1 0,-1 0 0,2-1-1,-1 1 4,-1 0-1,1 0 0,0 0 0,-1 0 0,1 0 1,-1 0-1,1 1 0,0-1 0,-1 0 0,1 0 1,-1 1-1,1-1 0,-1 0 0,1 1 0,-1-1 1,1 1-1,-1-1 0,1 1 0,-1-1 0,1 1 1,16 30 498,-13-13-309,0 1 0,-1-1 0,-1 1 0,-1 0 0,0-1 0,-4 25-1,4 52 658,0-85-730,0 0 0,1 0 0,1 1 0,-1-1 0,2-1-1,-1 1 1,6 10 0,10 20 380,-15-30-332,0-1-1,1 1 1,0-1 0,9 12-1,-11-17-127,0-1 1,1 0-1,-1 0 0,1 0 0,-1 0 0,1 0 0,0-1 0,0 0 1,1 0-1,-1 0 0,0 0 0,0-1 0,9 2 0,-7-1 19,0-1-1,0 0 0,0 0 1,0 0-1,1-1 1,-1 0-1,0-1 0,0 1 1,11-3-1,-14 2-72,-1 0 0,1 0 0,-1 0 0,1-1 0,-1 1 0,0-1 0,0 1 0,1-1 0,-1 0 0,0 0 0,-1 0 0,1 0 0,0 0 0,0 0-1,-1 0 1,0-1 0,1 1 0,-1-1 0,0 1 0,0-1 0,0 1 0,0-1 0,-1 0 0,1-3 0,3-24-219,-2 0 0,-1 0-1,-5-54 1,0 0-206,4-86-68,-1 213 779,0-17-72,1 1 0,1 0 0,1 0 0,9 39 0,-10-59-163,1-1-1,1 1 1,-1 0 0,1-1 0,0 0 0,0 0-1,1 0 1,0 0 0,0 0 0,0-1-1,1 0 1,-1 1 0,2-2 0,-1 1 0,0-1-1,1 1 1,0-2 0,0 1 0,0-1-1,0 1 1,0-2 0,11 4 0,-15-5-51,0 0 0,1 0 0,-1-1 1,0 1-1,1-1 0,-1 0 0,0 0 0,1 0 1,-1 0-1,1 0 0,-1 0 0,0-1 0,1 1 1,-1-1-1,0 1 0,1-1 0,-1 0 0,0 0 1,0 0-1,0 0 0,0 0 0,0-1 0,0 1 1,0-1-1,0 1 0,0-1 0,-1 0 0,1 1 1,-1-1-1,1 0 0,-1 0 0,0 0 0,0 0 1,0 0-1,0-1 0,0 1 0,0 0 0,0 0 1,-1-1-1,1 1 0,-1 0 0,0-1 0,0 1 1,0-1-1,0 1 0,0 0 0,0-1 0,0 1 1,-1 0-1,0-4 0,-4-12-28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09:58:36.60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53 9830,'4'1'107,"0"1"0,1 0-1,-1 0 1,0 0 0,0 1 0,-1-1 0,1 1-1,0 0 1,-1 0 0,0 0 0,1 1-1,-1-1 1,2 5 0,7 5 150,17 19 207,-26-28-395,0 1 0,0-1 0,1 0 0,-1 0 0,1 0 0,0-1 0,0 1 0,0-1 0,1 0 1,-1 0-1,1-1 0,0 1 0,0-1 0,0 0 0,0 0 0,7 1 0,24 1 396,0-2 0,0-1 0,47-4 0,7-1 405,898 4 8688,-974 1-9455,0 1 0,-1 0 0,0 1 0,1 0 0,-1 1 0,19 8 0,-15-5-108,0-1 0,33 7 0,-45-12 5,14 1 0,0 2 0,0 0 0,0 1 0,23 9 0,-38-12 0,1 1 0,-1-1 0,1 1 0,-1-1 0,0 1 0,0 1 0,0-1 0,0 0 0,-1 1 0,1 0 0,-1 0 0,0 0 0,0 0 0,-1 1 0,1-1 0,-1 1 0,0-1 0,0 1 0,0 0 0,-1 0 0,2 6 0,1 58 0,2-90-294,1 0 1,1 1 0,1 0 0,0 0 0,17-25 0,-23 42 297,0-1 0,0 1 1,0 0-1,1-1 0,-1 2 1,1-1-1,0 0 0,0 1 1,0-1-1,0 1 0,1 0 1,-1 1-1,0-1 0,1 1 1,-1 0-1,1 0 0,8-1 0,9 1 33,0 0 0,34 3 0,-20 1-1,686 0 731,-397-5-421,-312 2-319,1 0-1,0-2 1,-1 1-1,1-2 1,-1 0-1,17-6 1,-25 8-53,0-1 1,0-1 0,0 1 0,-1-1 0,1 0 0,-1 0 0,1 0 0,-1 0 0,0-1 0,-1 1 0,1-1 0,-1 0 0,1-1-1,-1 1 1,0 0 0,-1-1 0,1 0 0,-1 0 0,2-5 0,6-22-683,11-66 0,-18 73 663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6T09:58:38.9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597 0 9830,'-42'0'691,"1"2"0,-1 1 0,1 3 0,-68 17-1,65-13-346,35-9-224,-1 1-1,1 0 0,0 1 1,0 0-1,0 0 1,0 1-1,0 0 0,1 1 1,0-1-1,-11 10 1,-26 22 663,28-23-430,1 0 1,0 2 0,1-1 0,-21 27-1,33-35-255,-1 1 0,1-1 0,0 1 0,1-1 0,-1 1 0,2 0 0,-1 0 0,1 0 0,0 0 0,0 0-1,0 0 1,1 0 0,1 0 0,-1 0 0,1 0 0,3 13 0,-2-12-1,0 0 0,0-1-1,1 1 1,0-1 0,1 0 0,0 1 0,0-2-1,0 1 1,1 0 0,0-1 0,0 0 0,0 0-1,1 0 1,10 7 0,-8-8 20,0-2 0,0 1 1,0-1-1,1 0 0,-1-1 0,1 0 0,0 0 1,-1-1-1,1 0 0,9 0 0,12-1 331,47-5 0,-73 5-416,1-1 0,-1 1 0,0-1 0,0 0 1,0 0-1,0 0 0,0-1 0,0 0 0,-1 1 1,1-1-1,0 0 0,-1-1 0,1 1 0,-1-1 1,0 1-1,0-1 0,4-5 0,-4 3-84,0 0 0,-1 0-1,1 0 1,-1-1 0,0 1 0,-1-1-1,0 1 1,1-1 0,-2 0 0,1 0-1,-1 1 1,0-7 0,1-12-260,-2 0 0,-6-39 0,6 56 278,0 0 1,-1 0-1,0 0 1,0 0-1,-1 0 0,0 1 1,0-1-1,0 1 1,-1 0-1,0 0 0,0 0 1,-1 1-1,-7-8 1,7 10 57,0 0 1,-1 0 0,1 0-1,-1 1 1,0 0-1,0 0 1,0 0 0,0 1-1,0 0 1,0 0 0,0 0-1,-13 1 1,-4 0-11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pPr lvl="0"/>
            <a:fld id="{803929AC-543A-428A-BA03-76392D6CD9F9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pPr lvl="0"/>
            <a:fld id="{D8C77BC9-61C6-4327-B72F-447E1E2C01E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68826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pPr lvl="0"/>
            <a:fld id="{A5173A2A-56C9-403F-A45A-0795C11FF626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pPr lvl="0"/>
            <a:fld id="{7DBB4807-5EE0-4E6B-BB40-22FFBAD70B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4323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E59608B9-E3BD-4145-8968-FF6BED8ED68D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124A29-77E7-435D-92C3-5C34EF2A192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26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pPr lvl="0"/>
            <a:fld id="{C916084C-4DF4-4174-8E1D-5C8E10954D7B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pPr lvl="0"/>
            <a:fld id="{492E9E36-D965-402F-B5DE-07D095FA457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81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pPr lvl="0"/>
            <a:fld id="{74953D35-840F-4492-9723-4120E4EA8909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pPr lvl="0"/>
            <a:fld id="{231C7439-B5F9-4644-89AA-B45E6FAA93C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9461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FF5D9DF-9CCA-4886-965A-D3F65A74F606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6B9288F-91F6-4562-BCB4-78A181B528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66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6A09CA2-CADF-4C77-8705-8C682CF2ADA7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FD0746-C5AD-462B-84C4-41E3510ED2A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290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pPr lvl="0"/>
            <a:fld id="{F0BA09BC-02E8-4ED8-A495-F751C824E5AA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5DD1DA-6DD8-4901-B5C1-71E93013F8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22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00206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00206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pPr lvl="0"/>
            <a:fld id="{2163365B-EC39-4DD9-BECB-2025B11A8CE5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DE4AA00-155A-4738-98A1-91E21C0DF4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92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D055A649-1A45-408F-97F1-B4D4DAAB1442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DF117E7-9C5E-4D6B-9B2A-EDD2726370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5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2034D05B-501F-43B3-ABD0-2FC386A5F699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C4AA6CE-3265-4925-A3A3-C802D4CC98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0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04E16160-A9CC-43F3-AD10-7B52BD7FE2EA}" type="datetime1">
              <a:rPr lang="en-US" smtClean="0"/>
              <a:pPr lvl="0"/>
              <a:t>2/6/2026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560074D2-C7BF-491E-8869-0966987A58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8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206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7.xml"/><Relationship Id="rId3" Type="http://schemas.openxmlformats.org/officeDocument/2006/relationships/image" Target="../media/image9.png"/><Relationship Id="rId7" Type="http://schemas.openxmlformats.org/officeDocument/2006/relationships/customXml" Target="../ink/ink4.xml"/><Relationship Id="rId12" Type="http://schemas.openxmlformats.org/officeDocument/2006/relationships/image" Target="../media/image10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6.xml"/><Relationship Id="rId5" Type="http://schemas.openxmlformats.org/officeDocument/2006/relationships/image" Target="../media/image11.png"/><Relationship Id="rId10" Type="http://schemas.openxmlformats.org/officeDocument/2006/relationships/image" Target="../media/image90.png"/><Relationship Id="rId4" Type="http://schemas.openxmlformats.org/officeDocument/2006/relationships/image" Target="../media/image10.png"/><Relationship Id="rId9" Type="http://schemas.openxmlformats.org/officeDocument/2006/relationships/customXml" Target="../ink/ink5.xml"/><Relationship Id="rId1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C14A-A85D-4EF0-B94B-E5877861E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en-US" sz="7400" b="1" dirty="0"/>
              <a:t>FINA4380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BADFB-DD37-4A6F-B0E3-E3BCBE84B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r>
              <a:rPr lang="en-US" dirty="0"/>
              <a:t>Supplementary Notes</a:t>
            </a:r>
          </a:p>
        </p:txBody>
      </p:sp>
    </p:spTree>
    <p:extLst>
      <p:ext uri="{BB962C8B-B14F-4D97-AF65-F5344CB8AC3E}">
        <p14:creationId xmlns:p14="http://schemas.microsoft.com/office/powerpoint/2010/main" val="2061179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1D92-1FAF-F246-21B6-4D757FD49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FB65-0FB6-B2CC-F4A2-AEDF061A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Risk-Neutrality of Black Scholes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23013-8949-CF9F-E1B4-DCB06646622F}"/>
              </a:ext>
            </a:extLst>
          </p:cNvPr>
          <p:cNvSpPr txBox="1"/>
          <p:nvPr/>
        </p:nvSpPr>
        <p:spPr>
          <a:xfrm>
            <a:off x="486894" y="2644550"/>
            <a:ext cx="5863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Risk-neutral = drift becomes risk-free rate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B8BEC-E50F-9CF1-B9B9-3A06A8970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0" y="3781993"/>
            <a:ext cx="5495355" cy="18513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5A5A91-E279-628A-A3EC-E9050D132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733683"/>
            <a:ext cx="5773678" cy="3016877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44FAAE-6139-D122-4DB5-F39B9761B8E3}"/>
              </a:ext>
            </a:extLst>
          </p:cNvPr>
          <p:cNvCxnSpPr/>
          <p:nvPr/>
        </p:nvCxnSpPr>
        <p:spPr>
          <a:xfrm>
            <a:off x="6096000" y="2225040"/>
            <a:ext cx="0" cy="4287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EB7FD68-95A2-EAD1-BF75-7E66125B2FD4}"/>
                  </a:ext>
                </a:extLst>
              </p14:cNvPr>
              <p14:cNvContentPartPr/>
              <p14:nvPr/>
            </p14:nvContentPartPr>
            <p14:xfrm>
              <a:off x="6567817" y="3588348"/>
              <a:ext cx="1174680" cy="99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EB7FD68-95A2-EAD1-BF75-7E66125B2F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8177" y="3408348"/>
                <a:ext cx="1354320" cy="45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659E18-5B91-83A6-3FE7-2B08A0D66F1E}"/>
                  </a:ext>
                </a:extLst>
              </p14:cNvPr>
              <p14:cNvContentPartPr/>
              <p14:nvPr/>
            </p14:nvContentPartPr>
            <p14:xfrm>
              <a:off x="6577537" y="4149228"/>
              <a:ext cx="1052640" cy="38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659E18-5B91-83A6-3FE7-2B08A0D66F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7897" y="3969588"/>
                <a:ext cx="12322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362EDE-EC69-1EC7-13B3-DB84E0116579}"/>
                  </a:ext>
                </a:extLst>
              </p14:cNvPr>
              <p14:cNvContentPartPr/>
              <p14:nvPr/>
            </p14:nvContentPartPr>
            <p14:xfrm>
              <a:off x="6587257" y="4905948"/>
              <a:ext cx="874440" cy="11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362EDE-EC69-1EC7-13B3-DB84E01165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7617" y="4726308"/>
                <a:ext cx="1054080" cy="3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782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32D6-4E51-CA59-E793-E95D4502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dirty="0"/>
              <a:t>It’s BS that force constant vol, not because of risk neutral</a:t>
            </a:r>
          </a:p>
        </p:txBody>
      </p:sp>
      <p:pic>
        <p:nvPicPr>
          <p:cNvPr id="1026" name="Picture 2" descr="PPT - The Black-Scholes Model PowerPoint Presentation, free download -  ID:2935554">
            <a:extLst>
              <a:ext uri="{FF2B5EF4-FFF2-40B4-BE49-F238E27FC236}">
                <a16:creationId xmlns:a16="http://schemas.microsoft.com/office/drawing/2014/main" id="{0176C2EB-78CE-D292-6237-DCA03390F1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50" y="2478088"/>
            <a:ext cx="4925482" cy="369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BB0EB5-CE8B-8853-7FAB-253326F4A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047" y="3088245"/>
            <a:ext cx="5980203" cy="204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8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AF6C-45B7-E5C6-A211-E791FA10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1EB8-9482-57BF-AEF4-96414ECB9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Random Volatility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AE706B-7BD6-269A-3912-0C4F7CAF8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414" y="2302570"/>
            <a:ext cx="4321466" cy="23876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394547-E595-8CD3-11C1-E04DB7756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11" y="5050172"/>
            <a:ext cx="5712089" cy="129256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DEF751-7A24-C89F-4E43-15BB0C4F18A6}"/>
              </a:ext>
            </a:extLst>
          </p:cNvPr>
          <p:cNvCxnSpPr/>
          <p:nvPr/>
        </p:nvCxnSpPr>
        <p:spPr>
          <a:xfrm>
            <a:off x="6096000" y="2225040"/>
            <a:ext cx="0" cy="4287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6A2B233-8542-B8F8-39D6-483FC197C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02570"/>
            <a:ext cx="5246957" cy="1691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9A52D1-77F1-A154-7199-F8A4F2A93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1" y="4167349"/>
            <a:ext cx="5323834" cy="17094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14E4DF-05C2-A23A-ADCE-240D0E6E3A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6542" y="790717"/>
            <a:ext cx="2581635" cy="6954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85FAC35-06C0-8719-E7FF-D10D1FB648FE}"/>
                  </a:ext>
                </a:extLst>
              </p14:cNvPr>
              <p14:cNvContentPartPr/>
              <p14:nvPr/>
            </p14:nvContentPartPr>
            <p14:xfrm>
              <a:off x="1635800" y="4470640"/>
              <a:ext cx="1057680" cy="270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85FAC35-06C0-8719-E7FF-D10D1FB648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18160" y="4453000"/>
                <a:ext cx="10933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EDBB84-EB49-45D8-2463-A04E30B7D5C4}"/>
                  </a:ext>
                </a:extLst>
              </p14:cNvPr>
              <p14:cNvContentPartPr/>
              <p14:nvPr/>
            </p14:nvContentPartPr>
            <p14:xfrm>
              <a:off x="1970960" y="4914880"/>
              <a:ext cx="203760" cy="186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EDBB84-EB49-45D8-2463-A04E30B7D5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52960" y="4897240"/>
                <a:ext cx="2394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9373088-1290-92FF-FC97-6881D1989B2A}"/>
                  </a:ext>
                </a:extLst>
              </p14:cNvPr>
              <p14:cNvContentPartPr/>
              <p14:nvPr/>
            </p14:nvContentPartPr>
            <p14:xfrm>
              <a:off x="3027200" y="4593760"/>
              <a:ext cx="1219320" cy="156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9373088-1290-92FF-FC97-6881D1989B2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09560" y="4576120"/>
                <a:ext cx="125496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3B2994F-23F2-6DB0-725F-B13567F46655}"/>
                  </a:ext>
                </a:extLst>
              </p14:cNvPr>
              <p14:cNvContentPartPr/>
              <p14:nvPr/>
            </p14:nvContentPartPr>
            <p14:xfrm>
              <a:off x="3524000" y="4886800"/>
              <a:ext cx="215280" cy="175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3B2994F-23F2-6DB0-725F-B13567F4665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06000" y="4868800"/>
                <a:ext cx="250920" cy="21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6569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F0A8-7BEE-AE0A-0DAA-AB53BB7C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185F-CD46-8E1E-01E8-6678DD38A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Stochastic Volatility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1559D35-7B98-91BA-F30A-DFF629A76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111" y="2183121"/>
            <a:ext cx="4574838" cy="41815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CB366E-0D4C-C9C9-B345-60713870F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1612"/>
            <a:ext cx="5046827" cy="31463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48F5DC-6EC8-F514-F8AE-04DAA9A997F1}"/>
              </a:ext>
            </a:extLst>
          </p:cNvPr>
          <p:cNvSpPr txBox="1"/>
          <p:nvPr/>
        </p:nvSpPr>
        <p:spPr>
          <a:xfrm>
            <a:off x="5643716" y="549091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After you pull market vol data, you choose a model → guess parameters → compute model implied vols → compare to market implied vols → adjust parameters → iterate until both match.</a:t>
            </a:r>
          </a:p>
        </p:txBody>
      </p:sp>
    </p:spTree>
    <p:extLst>
      <p:ext uri="{BB962C8B-B14F-4D97-AF65-F5344CB8AC3E}">
        <p14:creationId xmlns:p14="http://schemas.microsoft.com/office/powerpoint/2010/main" val="73421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FA70-C6D0-671E-F852-2E84B254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0AA7-C43E-C280-A900-FA367CA01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en-US" sz="7400" b="1" dirty="0"/>
              <a:t>ORDER 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D7676-85F4-784D-3475-CCA430B0F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r>
              <a:rPr lang="en-US" dirty="0"/>
              <a:t>Supplementary Notes</a:t>
            </a:r>
          </a:p>
        </p:txBody>
      </p:sp>
    </p:spTree>
    <p:extLst>
      <p:ext uri="{BB962C8B-B14F-4D97-AF65-F5344CB8AC3E}">
        <p14:creationId xmlns:p14="http://schemas.microsoft.com/office/powerpoint/2010/main" val="1823539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A956-2FAD-182B-717E-0B26C5FA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B3B3-35B9-5EA3-6A06-8B13BD0A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Rank Information Coefficient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0D0A14-5AA2-F418-F35B-8023F3B26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640" y="2176081"/>
            <a:ext cx="5762063" cy="23810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4E2CAA-5053-E5E0-CA75-19F73CE89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481" y="2176081"/>
            <a:ext cx="5276235" cy="23810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299BAD-7171-845D-3F4D-56DFB3675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12" y="4732268"/>
            <a:ext cx="5799991" cy="18529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012FC95-DAA8-B902-7C47-8E51B32A34B1}"/>
              </a:ext>
            </a:extLst>
          </p:cNvPr>
          <p:cNvSpPr txBox="1"/>
          <p:nvPr/>
        </p:nvSpPr>
        <p:spPr>
          <a:xfrm>
            <a:off x="6380703" y="4882167"/>
            <a:ext cx="56830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RankIC</a:t>
            </a:r>
            <a:r>
              <a:rPr lang="en-US" dirty="0"/>
              <a:t> tells you how well today's order flow imbalances predict tomorrow’s (or next 5 minutes’) cross-sectional returns.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0460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B5D2-ED57-B5F5-D005-5573B055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510C-1F80-30F5-40B2-A9DFCDA6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Rank Information Coefficient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4309AE-95FD-501D-60DE-442F54A1F6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036" y="2399429"/>
            <a:ext cx="4283284" cy="3694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735503-5909-DCF8-1615-3670815C7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793" y="2399429"/>
            <a:ext cx="4699851" cy="369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3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0DF4-EFB0-6663-1746-E94D48D2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72D4-1C0B-501A-DF7B-7165B0E8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Order Flow Factors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1E714-7382-BB55-2EE9-D4F1CD6EE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29" y="2428863"/>
            <a:ext cx="5255735" cy="3694176"/>
          </a:xfrm>
        </p:spPr>
        <p:txBody>
          <a:bodyPr>
            <a:normAutofit fontScale="85000" lnSpcReduction="20000"/>
          </a:bodyPr>
          <a:lstStyle/>
          <a:p>
            <a:r>
              <a:rPr lang="en-MY" dirty="0"/>
              <a:t>net buying pressure</a:t>
            </a:r>
          </a:p>
          <a:p>
            <a:r>
              <a:rPr lang="en-MY" dirty="0"/>
              <a:t>order imbalance</a:t>
            </a:r>
          </a:p>
          <a:p>
            <a:r>
              <a:rPr lang="en-MY" dirty="0"/>
              <a:t>aggressive vs passive flow</a:t>
            </a:r>
          </a:p>
          <a:p>
            <a:r>
              <a:rPr lang="en-MY" dirty="0"/>
              <a:t>liquidity provision/withdrawal</a:t>
            </a:r>
          </a:p>
          <a:p>
            <a:r>
              <a:rPr lang="en-MY" dirty="0"/>
              <a:t>volume‑synchronized price moves</a:t>
            </a:r>
          </a:p>
          <a:p>
            <a:r>
              <a:rPr lang="en-MY" dirty="0"/>
              <a:t>VPIN / toxicity</a:t>
            </a:r>
          </a:p>
          <a:p>
            <a:r>
              <a:rPr lang="en-MY" dirty="0"/>
              <a:t>market maker inventory pressure</a:t>
            </a:r>
          </a:p>
          <a:p>
            <a:r>
              <a:rPr lang="en-MY" dirty="0"/>
              <a:t>large trader footprints</a:t>
            </a:r>
          </a:p>
        </p:txBody>
      </p:sp>
    </p:spTree>
    <p:extLst>
      <p:ext uri="{BB962C8B-B14F-4D97-AF65-F5344CB8AC3E}">
        <p14:creationId xmlns:p14="http://schemas.microsoft.com/office/powerpoint/2010/main" val="374116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6D51-AD96-4514-A4CE-87587FD6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624F-0D14-A0F5-9ACB-01A6C13B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 err="1"/>
              <a:t>Websockets</a:t>
            </a:r>
            <a:r>
              <a:rPr lang="en-MY" dirty="0"/>
              <a:t> VS Rest APIs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90B333-1EC6-7AC1-A01D-CEB637FD3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364" y="2399430"/>
            <a:ext cx="2753481" cy="3694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EF22DA-1602-953B-D54F-D9F8C7C25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552" y="2399430"/>
            <a:ext cx="3422197" cy="36994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E85308-6E73-021E-6C59-647D12D60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456" y="2399430"/>
            <a:ext cx="4598507" cy="369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83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383D-47CD-8F2F-699B-F5EDD261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1D38E-D2DD-E7D7-D644-454CAB92C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 fontScale="90000"/>
          </a:bodyPr>
          <a:lstStyle/>
          <a:p>
            <a:r>
              <a:rPr lang="en-MY" dirty="0"/>
              <a:t>Given </a:t>
            </a:r>
            <a:r>
              <a:rPr lang="en-MY" dirty="0" err="1"/>
              <a:t>RankIC</a:t>
            </a:r>
            <a:r>
              <a:rPr lang="en-MY" dirty="0"/>
              <a:t>, how to know whether it is a good factor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4120326-0277-F03B-7E57-B55780523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286" y="2330605"/>
            <a:ext cx="3664886" cy="36941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610F03-A438-D3A1-FD37-AFD72E12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206" y="2330605"/>
            <a:ext cx="5371705" cy="369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145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1D9E-AC8C-9C5E-FEB2-D3D223B2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A30E-4A27-BFA4-844F-D57BC974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 fontScale="90000"/>
          </a:bodyPr>
          <a:lstStyle/>
          <a:p>
            <a:r>
              <a:rPr lang="en-MY" dirty="0"/>
              <a:t>Given </a:t>
            </a:r>
            <a:r>
              <a:rPr lang="en-MY" dirty="0" err="1"/>
              <a:t>RankIC</a:t>
            </a:r>
            <a:r>
              <a:rPr lang="en-MY" dirty="0"/>
              <a:t>, how to know whether it is a good factor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D4094FE-149A-6E83-DBA1-AED6159BA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531" y="2591397"/>
            <a:ext cx="4879696" cy="25383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F16D43-0730-F295-229B-228CA41AA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429" y="2178442"/>
            <a:ext cx="3697042" cy="443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5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745C-61CB-0A3F-8955-7E0D89FF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9ED7-0468-5D72-3675-9604368B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Don’t have to worry about spoofing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DD3FB1-14D5-3D2B-8872-1F627C41C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062" y="2389598"/>
            <a:ext cx="5505761" cy="36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48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D316-D4FD-17AD-A6C8-2EDA7043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338D-A1BC-2403-AC5D-466EED69F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en-US" sz="7400" b="1" dirty="0"/>
              <a:t>ORDER FLOW FACTORS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77548-3F37-825F-63B5-1700B0FB7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r>
              <a:rPr lang="en-US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015726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5154-E299-CEA6-3360-FEB9E3CE2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B536-71B6-4366-236C-E8CADB9EF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7C4EAA-E508-9A2F-4EFD-81C8F5476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219" y="2399430"/>
            <a:ext cx="5349823" cy="36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96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FCCA-13E1-A757-8676-0B98413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1586-AD0B-1622-756A-4D404179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167C5E-4DAC-3C02-75AC-74E583158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8154" y="2310939"/>
            <a:ext cx="4435706" cy="36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06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1E57E-4A17-BF4B-5191-23015F539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332A-67C9-A69C-5BF4-E2B35EF6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4CE999-8D3B-ADFB-7B38-E9087C9A9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718" y="2533888"/>
            <a:ext cx="6584357" cy="344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55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F4FF8-3303-C91F-C867-A3C7985A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95071-AE30-4264-8D78-FDDBCF7D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591853-84E0-1EBF-0F35-193AF838A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774" y="2576756"/>
            <a:ext cx="5308117" cy="287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18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5831-5A0A-DD43-2185-0640ACBB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51BE-C68F-1324-AFBA-6B589FFA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A394B9-5E2F-4A8E-C02E-B6CC9D983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065" y="2369933"/>
            <a:ext cx="5814498" cy="36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71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B1FC-C58D-9E90-D782-ED0A88D78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7C96-110E-52A9-6D3F-78D97B51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6C8A8F-49E1-4C5E-2ED8-2D7988514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061" y="2271610"/>
            <a:ext cx="5620782" cy="36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15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659D-B89F-69E0-36C0-97C2ED1DF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86B6-7286-E609-7968-D0CC3D94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7" y="548640"/>
            <a:ext cx="10515993" cy="1179576"/>
          </a:xfrm>
        </p:spPr>
        <p:txBody>
          <a:bodyPr>
            <a:normAutofit/>
          </a:bodyPr>
          <a:lstStyle/>
          <a:p>
            <a:r>
              <a:rPr lang="en-MY" dirty="0"/>
              <a:t>Lists of Order Flow Factors proven useful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B6F6A6-CF83-41CC-7942-20EADD4D8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8647" y="2731931"/>
            <a:ext cx="5198695" cy="2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4681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Override1.xml><?xml version="1.0" encoding="utf-8"?>
<a:themeOverride xmlns:a="http://schemas.openxmlformats.org/drawingml/2006/main">
  <a:clrScheme name="AccentBoxVTI">
    <a:dk1>
      <a:srgbClr val="000000"/>
    </a:dk1>
    <a:lt1>
      <a:sysClr val="window" lastClr="FFFFFF"/>
    </a:lt1>
    <a:dk2>
      <a:srgbClr val="262626"/>
    </a:dk2>
    <a:lt2>
      <a:srgbClr val="FFFFFF"/>
    </a:lt2>
    <a:accent1>
      <a:srgbClr val="F5A700"/>
    </a:accent1>
    <a:accent2>
      <a:srgbClr val="00A5AB"/>
    </a:accent2>
    <a:accent3>
      <a:srgbClr val="09963B"/>
    </a:accent3>
    <a:accent4>
      <a:srgbClr val="E64823"/>
    </a:accent4>
    <a:accent5>
      <a:srgbClr val="9C6A6A"/>
    </a:accent5>
    <a:accent6>
      <a:srgbClr val="824F8C"/>
    </a:accent6>
    <a:hlink>
      <a:srgbClr val="2998E3"/>
    </a:hlink>
    <a:folHlink>
      <a:srgbClr val="7F723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3834</TotalTime>
  <Words>214</Words>
  <Application>Microsoft Office PowerPoint</Application>
  <PresentationFormat>Widescreen</PresentationFormat>
  <Paragraphs>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Avenir Next LT Pro</vt:lpstr>
      <vt:lpstr>Calibri</vt:lpstr>
      <vt:lpstr>AccentBoxVTI</vt:lpstr>
      <vt:lpstr>FINA4380</vt:lpstr>
      <vt:lpstr>Risk-Neutrality of Black Scholes Model</vt:lpstr>
      <vt:lpstr>It’s BS that force constant vol, not because of risk neutral</vt:lpstr>
      <vt:lpstr>Random Volatility Model</vt:lpstr>
      <vt:lpstr>Stochastic Volatility Model</vt:lpstr>
      <vt:lpstr>ORDER FLOW</vt:lpstr>
      <vt:lpstr>Rank Information Coefficient</vt:lpstr>
      <vt:lpstr>Rank Information Coefficient</vt:lpstr>
      <vt:lpstr>Order Flow Factors</vt:lpstr>
      <vt:lpstr>Websockets VS Rest APIs</vt:lpstr>
      <vt:lpstr>Given RankIC, how to know whether it is a good factor</vt:lpstr>
      <vt:lpstr>Given RankIC, how to know whether it is a good factor</vt:lpstr>
      <vt:lpstr>Don’t have to worry about spoofing</vt:lpstr>
      <vt:lpstr>ORDER FLOW FACTORS</vt:lpstr>
      <vt:lpstr>Lists of Order Flow Factors proven useful</vt:lpstr>
      <vt:lpstr>Lists of Order Flow Factors proven useful</vt:lpstr>
      <vt:lpstr>Lists of Order Flow Factors proven useful</vt:lpstr>
      <vt:lpstr>Lists of Order Flow Factors proven useful</vt:lpstr>
      <vt:lpstr>Lists of Order Flow Factors proven useful</vt:lpstr>
      <vt:lpstr>Lists of Order Flow Factors proven useful</vt:lpstr>
      <vt:lpstr>Lists of Order Flow Factors proven useful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 Yik Tin</dc:creator>
  <cp:lastModifiedBy>Zi Yik Tin</cp:lastModifiedBy>
  <cp:revision>8</cp:revision>
  <dcterms:created xsi:type="dcterms:W3CDTF">2026-01-13T09:39:59Z</dcterms:created>
  <dcterms:modified xsi:type="dcterms:W3CDTF">2026-02-06T20:04:55Z</dcterms:modified>
</cp:coreProperties>
</file>